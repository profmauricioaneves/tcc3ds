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0DB20-D534-47B2-82D0-9A962CDC3932}" type="datetimeFigureOut">
              <a:rPr lang="pt-BR" smtClean="0"/>
              <a:t>22/02/2026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F6935-9AA7-41CE-ADD8-389E3430B97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86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4AFD0-488B-48C9-83DC-95BFF24A4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743F420-C4B3-42B4-88EC-98AC80C11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D0752D-BAF0-4917-AE7A-FB7AEBF0F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3B90-59A3-4BAB-9F75-7522B736C3C9}" type="datetime1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916349-E04D-4A2F-884D-EC723AE2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E4E7B9-897D-4943-8DD5-43320A6A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8322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0A9B3B-FDC6-4D99-94FF-03AA493D1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5565F0-EC7B-41A4-A2DC-29F77983F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5B4691-3D73-489A-B083-D17EAE53F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B2C4-B378-42EE-BBBC-9D4BC144622B}" type="datetime1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C47148-F697-4136-8BEE-CD8AB5FE9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D963E1-B845-4C1C-83DC-249319ED3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3462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B3FAB-A46B-4F50-A4FC-3D9CA866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C3F4B5-CEC9-4150-91D3-094B38979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B50312-9EBF-46E9-96BC-694C460A5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BE838-D4D1-41F1-83B4-74435B9D9556}" type="datetime1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E98703-AB97-4E81-9AF7-05368E41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889A75-7ACF-46C7-9A96-1F7608BC0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1336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6061C-100B-4CC6-AB6E-F5A145B6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04360-4347-478F-8077-FAEB67B89E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B49290-D917-4C4B-8E4E-0513DE5CC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F61296-0372-4793-BDD6-677529E1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BBBD-5678-41EC-9356-41E4514B9D39}" type="datetime1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DD81DC-A9AA-438E-9801-31B1DFFB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3814BE-CA78-4634-AA18-251BCCB0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907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A42F4-6839-4A9C-A5A2-50FC64B1C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9ADD61-BA9A-4284-BCEE-6C55D0794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F4ACD4-B608-4652-90B5-17FDC6ADD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DE54892-E9C0-4276-B9A0-2357F051D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F1BAC1-C99D-4322-88DC-7EE2095711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5979841-5A32-46BB-9A5F-7C19B7855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00535-6CA0-4D99-BC3B-969AB9193A3A}" type="datetime1">
              <a:rPr lang="pt-BR" smtClean="0"/>
              <a:t>22/02/2026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3F6FE0B-D7F4-48C5-8F9B-249516DB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92975C3-47F3-478E-938C-DD642BC2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8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E98AF-F8ED-408E-9107-C9B183EFF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963A98B-BBBF-4728-B79B-F1B035DED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A6941-851F-4E24-91E7-7D57BCFAD73A}" type="datetime1">
              <a:rPr lang="pt-BR" smtClean="0"/>
              <a:t>22/02/2026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E18BBDE-B278-46C9-B8C8-72FCBF660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82398C-3894-44A3-B76C-B0C63595D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40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9F2772E-0183-4920-86E6-0B3A8AB6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B47C-9007-493F-A136-B58116E10AB4}" type="datetime1">
              <a:rPr lang="pt-BR" smtClean="0"/>
              <a:t>22/02/2026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5C4D429-8461-4715-BE9A-7D4CF9998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9B1816-CEFC-43C8-BC44-E0D023542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94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18BE0-182E-4E49-8457-BECD85B44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7EC255-FF19-4BA2-B933-5BDD0CDAD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2FD9A2-49E0-4BC2-A67D-D94942F49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920302-F021-4772-80EA-DB4D11C8F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E1FD-8AE6-4FE0-962F-CD073CFDDEC7}" type="datetime1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8AED12-872A-4F4C-B9F7-E9DD6AF1D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1F85EF-5882-411F-91E5-266E7187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373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6F4DBC-C2F2-4851-A06C-C1D299C75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0AFC24-C712-400F-B939-036DD53E6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F9CA42-DECA-43BA-8203-4ADF3B9E3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831C48-C55B-4F01-9E21-16985AAF6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7C387-7FDB-4A4F-80AF-2D3A3B511702}" type="datetime1">
              <a:rPr lang="pt-BR" smtClean="0"/>
              <a:t>22/02/2026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65A470-9EF5-4B11-986E-A5AC23943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230FE28-A755-469F-93B0-23EF6F3A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59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9801E-FF50-445E-A5E7-1DE796D53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447A3-5DE8-4F67-86CD-D15441A13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FB4273-A0C7-4320-A974-00E0E2C8A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94BDD-C692-4FED-A6AB-1DE08DB931D5}" type="datetime1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607D17D-3312-41CB-9EAD-E2DF46EF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A0A8BD-2879-4165-BCA9-4188EF62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220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1E13A97-E41A-4A2F-8978-C5441F363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A069AA-33A9-4A74-BABB-F525AC30D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D4C2AFB-AFAD-43AF-AA29-6E3EE048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160AB-10C5-4872-9722-51B2F8F8C63A}" type="datetime1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9B596E-A92E-40E1-B94B-B0C1F966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3E3662-1618-495B-8C49-57E4D0C2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9691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DF4AB23-549B-4198-82D9-5380D7197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110DAD-061B-4E49-870A-A9080F713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0D0881F-2D97-4469-A704-DFDAE4556A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87A54-6466-4EA9-9F4A-658E838F9A4C}" type="datetime1">
              <a:rPr lang="pt-BR" smtClean="0"/>
              <a:t>22/02/2026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487EFF-6262-4FA0-8E57-D242C9CA0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508566F-EFC2-4FA2-BC69-99FD4A3BF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A7EC0-AA17-4891-92AD-9A01825338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504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/>
          <a:lstStyle/>
          <a:p>
            <a:endParaRPr lang="pt-BR" dirty="0"/>
          </a:p>
          <a:p>
            <a:r>
              <a:rPr lang="pt-BR" sz="3200" b="1" dirty="0"/>
              <a:t>Desenvolvimento do Trabalho de Conclusão de Curso</a:t>
            </a:r>
          </a:p>
          <a:p>
            <a:endParaRPr lang="pt-BR" dirty="0"/>
          </a:p>
          <a:p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endParaRPr lang="pt-BR" dirty="0"/>
          </a:p>
          <a:p>
            <a:pPr algn="l"/>
            <a:r>
              <a:rPr lang="pt-BR" sz="3200" dirty="0"/>
              <a:t>Professor : Maurício das Neves</a:t>
            </a:r>
          </a:p>
          <a:p>
            <a:pPr algn="l"/>
            <a:r>
              <a:rPr lang="pt-BR" sz="3200" dirty="0"/>
              <a:t>Terça-Feira: 21:00 as 22:45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1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2E5563C-0D12-F2C4-B7FB-511BA60A6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2718" y="107749"/>
            <a:ext cx="974316" cy="67113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E1F7313-1431-D04C-DA33-CA4C81874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3" y="-10415"/>
            <a:ext cx="1451421" cy="89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1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3200" dirty="0"/>
              <a:t>Tarefa – Criar as referências bibliográficas</a:t>
            </a:r>
          </a:p>
          <a:p>
            <a:pPr algn="just"/>
            <a:r>
              <a:rPr lang="pt-BR" sz="3200" dirty="0"/>
              <a:t>A) Livros (dados para referenciação)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Autor(es): Roger S. Pressman; Bruce R. Maxim</a:t>
            </a:r>
          </a:p>
          <a:p>
            <a:pPr algn="just"/>
            <a:r>
              <a:rPr lang="pt-BR" sz="3200" dirty="0"/>
              <a:t>Título: Engenharia de Software: Uma Abordagem Profissional</a:t>
            </a:r>
          </a:p>
          <a:p>
            <a:pPr algn="just"/>
            <a:r>
              <a:rPr lang="pt-BR" sz="3200" dirty="0"/>
              <a:t>Edição: 8ª edição</a:t>
            </a:r>
          </a:p>
          <a:p>
            <a:pPr algn="just"/>
            <a:r>
              <a:rPr lang="pt-BR" sz="3200" dirty="0"/>
              <a:t>Cidade: Porto Alegre</a:t>
            </a:r>
          </a:p>
          <a:p>
            <a:pPr algn="just"/>
            <a:r>
              <a:rPr lang="pt-BR" sz="3200" dirty="0"/>
              <a:t>Editora: AMGH</a:t>
            </a:r>
          </a:p>
          <a:p>
            <a:pPr algn="just"/>
            <a:r>
              <a:rPr lang="pt-BR" sz="3200" dirty="0"/>
              <a:t>Ano: 2016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Autor: Ian </a:t>
            </a:r>
            <a:r>
              <a:rPr lang="pt-BR" sz="3200" dirty="0" err="1"/>
              <a:t>Sommerville</a:t>
            </a:r>
            <a:endParaRPr lang="pt-BR" sz="3200" dirty="0"/>
          </a:p>
          <a:p>
            <a:pPr algn="just"/>
            <a:r>
              <a:rPr lang="pt-BR" sz="3200" dirty="0"/>
              <a:t>Título: Engenharia de Software</a:t>
            </a:r>
          </a:p>
          <a:p>
            <a:pPr algn="just"/>
            <a:r>
              <a:rPr lang="pt-BR" sz="3200" dirty="0"/>
              <a:t>Edição: 10ª edição</a:t>
            </a:r>
          </a:p>
          <a:p>
            <a:pPr algn="just"/>
            <a:r>
              <a:rPr lang="pt-BR" sz="3200" dirty="0"/>
              <a:t>Cidade: São Paulo</a:t>
            </a:r>
          </a:p>
          <a:p>
            <a:pPr algn="just"/>
            <a:r>
              <a:rPr lang="pt-BR" sz="3200" dirty="0"/>
              <a:t>Editora: Pearson</a:t>
            </a:r>
          </a:p>
          <a:p>
            <a:pPr algn="just"/>
            <a:r>
              <a:rPr lang="pt-BR" sz="3200" dirty="0"/>
              <a:t>Ano: 2019</a:t>
            </a:r>
          </a:p>
          <a:p>
            <a:pPr algn="just"/>
            <a:endParaRPr lang="pt-BR" sz="32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2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55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3200" dirty="0"/>
              <a:t>Autor(es): Ramez </a:t>
            </a:r>
            <a:r>
              <a:rPr lang="pt-BR" sz="3200" dirty="0" err="1"/>
              <a:t>Elmasri</a:t>
            </a:r>
            <a:r>
              <a:rPr lang="pt-BR" sz="3200" dirty="0"/>
              <a:t>; </a:t>
            </a:r>
            <a:r>
              <a:rPr lang="pt-BR" sz="3200" dirty="0" err="1"/>
              <a:t>Shamkant</a:t>
            </a:r>
            <a:r>
              <a:rPr lang="pt-BR" sz="3200" dirty="0"/>
              <a:t> B. </a:t>
            </a:r>
            <a:r>
              <a:rPr lang="pt-BR" sz="3200" dirty="0" err="1"/>
              <a:t>Navathe</a:t>
            </a:r>
            <a:endParaRPr lang="pt-BR" sz="3200" dirty="0"/>
          </a:p>
          <a:p>
            <a:pPr algn="just"/>
            <a:r>
              <a:rPr lang="pt-BR" sz="3200" dirty="0"/>
              <a:t>Título: Sistemas de Banco de Dados</a:t>
            </a:r>
          </a:p>
          <a:p>
            <a:pPr algn="just"/>
            <a:r>
              <a:rPr lang="pt-BR" sz="3200" dirty="0"/>
              <a:t>Edição: 6ª edição</a:t>
            </a:r>
          </a:p>
          <a:p>
            <a:pPr algn="just"/>
            <a:r>
              <a:rPr lang="pt-BR" sz="3200" dirty="0"/>
              <a:t>Cidade: São Paulo</a:t>
            </a:r>
          </a:p>
          <a:p>
            <a:pPr algn="just"/>
            <a:r>
              <a:rPr lang="pt-BR" sz="3200" dirty="0"/>
              <a:t>Editora: Pearson</a:t>
            </a:r>
          </a:p>
          <a:p>
            <a:pPr algn="just"/>
            <a:r>
              <a:rPr lang="pt-BR" sz="3200" dirty="0"/>
              <a:t>Ano: 2011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Autor: C. J. Date</a:t>
            </a:r>
          </a:p>
          <a:p>
            <a:pPr algn="just"/>
            <a:r>
              <a:rPr lang="pt-BR" sz="3200" dirty="0"/>
              <a:t>Título: Introdução a Sistemas de Bancos de Dados</a:t>
            </a:r>
          </a:p>
          <a:p>
            <a:pPr algn="just"/>
            <a:r>
              <a:rPr lang="pt-BR" sz="3200" dirty="0"/>
              <a:t>Edição: 8ª edição</a:t>
            </a:r>
          </a:p>
          <a:p>
            <a:pPr algn="just"/>
            <a:r>
              <a:rPr lang="pt-BR" sz="3200" dirty="0"/>
              <a:t>Cidade: Rio de Janeiro</a:t>
            </a:r>
          </a:p>
          <a:p>
            <a:pPr algn="just"/>
            <a:r>
              <a:rPr lang="pt-BR" sz="3200" dirty="0"/>
              <a:t>Editora: Campus</a:t>
            </a:r>
          </a:p>
          <a:p>
            <a:pPr algn="just"/>
            <a:r>
              <a:rPr lang="pt-BR" sz="3200" dirty="0"/>
              <a:t>Ano: 2004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Autor: Robert C. Martin</a:t>
            </a:r>
          </a:p>
          <a:p>
            <a:pPr algn="just"/>
            <a:r>
              <a:rPr lang="pt-BR" sz="3200" dirty="0"/>
              <a:t>Título: Código Limpo: Habilidades Práticas do </a:t>
            </a:r>
            <a:r>
              <a:rPr lang="pt-BR" sz="3200" dirty="0" err="1"/>
              <a:t>Agile</a:t>
            </a:r>
            <a:r>
              <a:rPr lang="pt-BR" sz="3200" dirty="0"/>
              <a:t> Software</a:t>
            </a:r>
          </a:p>
          <a:p>
            <a:pPr algn="just"/>
            <a:r>
              <a:rPr lang="pt-BR" sz="3200" dirty="0"/>
              <a:t>Cidade: Rio de Janeiro</a:t>
            </a:r>
          </a:p>
          <a:p>
            <a:pPr algn="just"/>
            <a:r>
              <a:rPr lang="pt-BR" sz="3200" dirty="0"/>
              <a:t>Editora: Alta Books</a:t>
            </a:r>
          </a:p>
          <a:p>
            <a:pPr algn="just"/>
            <a:r>
              <a:rPr lang="pt-BR" sz="3200" dirty="0"/>
              <a:t>Ano: 2009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3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37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3200" dirty="0"/>
              <a:t>Autor: Martin Fowler</a:t>
            </a:r>
          </a:p>
          <a:p>
            <a:pPr algn="just"/>
            <a:r>
              <a:rPr lang="pt-BR" sz="3200" dirty="0"/>
              <a:t>Título: Refatoração: Aperfeiçoando o Design de Códigos Existentes</a:t>
            </a:r>
          </a:p>
          <a:p>
            <a:pPr algn="just"/>
            <a:r>
              <a:rPr lang="pt-BR" sz="3200" dirty="0"/>
              <a:t>Cidade: São Paulo</a:t>
            </a:r>
          </a:p>
          <a:p>
            <a:pPr algn="just"/>
            <a:r>
              <a:rPr lang="pt-BR" sz="3200" dirty="0"/>
              <a:t>Editora: </a:t>
            </a:r>
            <a:r>
              <a:rPr lang="pt-BR" sz="3200" dirty="0" err="1"/>
              <a:t>Novatec</a:t>
            </a:r>
            <a:endParaRPr lang="pt-BR" sz="3200" dirty="0"/>
          </a:p>
          <a:p>
            <a:pPr algn="just"/>
            <a:r>
              <a:rPr lang="pt-BR" sz="3200" dirty="0"/>
              <a:t>Ano: 2019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Autor(es): Erich Gamma; Richard Helm; Ralph Johnson; John </a:t>
            </a:r>
            <a:r>
              <a:rPr lang="pt-BR" sz="3200" dirty="0" err="1"/>
              <a:t>Vlissides</a:t>
            </a:r>
            <a:endParaRPr lang="pt-BR" sz="3200" dirty="0"/>
          </a:p>
          <a:p>
            <a:pPr algn="just"/>
            <a:r>
              <a:rPr lang="pt-BR" sz="3200" dirty="0"/>
              <a:t>Título: Padrões de Projetos: Soluções Reutilizáveis de Software Orientado a Objetos</a:t>
            </a:r>
          </a:p>
          <a:p>
            <a:pPr algn="just"/>
            <a:r>
              <a:rPr lang="pt-BR" sz="3200" dirty="0"/>
              <a:t>Cidade: Porto Alegre</a:t>
            </a:r>
          </a:p>
          <a:p>
            <a:pPr algn="just"/>
            <a:r>
              <a:rPr lang="pt-BR" sz="3200" dirty="0"/>
              <a:t>Editora: Bookman</a:t>
            </a:r>
          </a:p>
          <a:p>
            <a:pPr algn="just"/>
            <a:r>
              <a:rPr lang="pt-BR" sz="3200" dirty="0"/>
              <a:t>Ano: 2000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Autor: David Flanagan</a:t>
            </a:r>
          </a:p>
          <a:p>
            <a:pPr algn="just"/>
            <a:r>
              <a:rPr lang="pt-BR" sz="3200" dirty="0"/>
              <a:t>Título: </a:t>
            </a:r>
            <a:r>
              <a:rPr lang="pt-BR" sz="3200" dirty="0" err="1"/>
              <a:t>JavaScript</a:t>
            </a:r>
            <a:r>
              <a:rPr lang="pt-BR" sz="3200" dirty="0"/>
              <a:t>: O Guia Definitivo</a:t>
            </a:r>
          </a:p>
          <a:p>
            <a:pPr algn="just"/>
            <a:r>
              <a:rPr lang="pt-BR" sz="3200" dirty="0"/>
              <a:t>Edição: 7ª edição</a:t>
            </a:r>
          </a:p>
          <a:p>
            <a:pPr algn="just"/>
            <a:r>
              <a:rPr lang="pt-BR" sz="3200" dirty="0"/>
              <a:t>Cidade: Porto Alegre</a:t>
            </a:r>
          </a:p>
          <a:p>
            <a:pPr algn="just"/>
            <a:r>
              <a:rPr lang="pt-BR" sz="3200" dirty="0"/>
              <a:t>Editora: Bookman</a:t>
            </a:r>
          </a:p>
          <a:p>
            <a:pPr algn="just"/>
            <a:r>
              <a:rPr lang="pt-BR" sz="3200" dirty="0"/>
              <a:t>Ano: 2021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4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90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Autor: Jon </a:t>
            </a:r>
            <a:r>
              <a:rPr lang="pt-BR" sz="3200" dirty="0" err="1"/>
              <a:t>Duckett</a:t>
            </a:r>
            <a:endParaRPr lang="pt-BR" sz="3200" dirty="0"/>
          </a:p>
          <a:p>
            <a:pPr algn="just"/>
            <a:r>
              <a:rPr lang="pt-BR" sz="3200" dirty="0"/>
              <a:t>Título: HTML e CSS: Projete e Construa Websites</a:t>
            </a:r>
          </a:p>
          <a:p>
            <a:pPr algn="just"/>
            <a:r>
              <a:rPr lang="pt-BR" sz="3200" dirty="0"/>
              <a:t>Cidade: Rio de Janeiro</a:t>
            </a:r>
          </a:p>
          <a:p>
            <a:pPr algn="just"/>
            <a:r>
              <a:rPr lang="pt-BR" sz="3200" dirty="0"/>
              <a:t>Editora: Alta Books</a:t>
            </a:r>
          </a:p>
          <a:p>
            <a:pPr algn="just"/>
            <a:r>
              <a:rPr lang="pt-BR" sz="3200" dirty="0"/>
              <a:t>Ano: 2016</a:t>
            </a:r>
          </a:p>
          <a:p>
            <a:pPr algn="just"/>
            <a:endParaRPr lang="pt-BR" sz="32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5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78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4200" b="1" dirty="0"/>
              <a:t>B) Trabalhos acadêmicos (artigos de periódicos)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Autores: Roy T. Fielding; Richard N. Taylor</a:t>
            </a:r>
          </a:p>
          <a:p>
            <a:pPr algn="just"/>
            <a:r>
              <a:rPr lang="pt-BR" sz="3200" dirty="0"/>
              <a:t>Título do artigo: </a:t>
            </a:r>
            <a:r>
              <a:rPr lang="pt-BR" sz="3200" dirty="0" err="1"/>
              <a:t>Principled</a:t>
            </a:r>
            <a:r>
              <a:rPr lang="pt-BR" sz="3200" dirty="0"/>
              <a:t> design </a:t>
            </a:r>
            <a:r>
              <a:rPr lang="pt-BR" sz="3200" dirty="0" err="1"/>
              <a:t>of</a:t>
            </a:r>
            <a:r>
              <a:rPr lang="pt-BR" sz="3200" dirty="0"/>
              <a:t> </a:t>
            </a:r>
            <a:r>
              <a:rPr lang="pt-BR" sz="3200" dirty="0" err="1"/>
              <a:t>the</a:t>
            </a:r>
            <a:r>
              <a:rPr lang="pt-BR" sz="3200" dirty="0"/>
              <a:t> </a:t>
            </a:r>
            <a:r>
              <a:rPr lang="pt-BR" sz="3200" dirty="0" err="1"/>
              <a:t>modern</a:t>
            </a:r>
            <a:r>
              <a:rPr lang="pt-BR" sz="3200" dirty="0"/>
              <a:t> Web </a:t>
            </a:r>
            <a:r>
              <a:rPr lang="pt-BR" sz="3200" dirty="0" err="1"/>
              <a:t>architecture</a:t>
            </a:r>
            <a:endParaRPr lang="pt-BR" sz="3200" dirty="0"/>
          </a:p>
          <a:p>
            <a:pPr algn="just"/>
            <a:r>
              <a:rPr lang="pt-BR" sz="3200" dirty="0"/>
              <a:t>Periódico: ACM </a:t>
            </a:r>
            <a:r>
              <a:rPr lang="pt-BR" sz="3200" dirty="0" err="1"/>
              <a:t>Transactions</a:t>
            </a:r>
            <a:r>
              <a:rPr lang="pt-BR" sz="3200" dirty="0"/>
              <a:t> </a:t>
            </a:r>
            <a:r>
              <a:rPr lang="pt-BR" sz="3200" dirty="0" err="1"/>
              <a:t>on</a:t>
            </a:r>
            <a:r>
              <a:rPr lang="pt-BR" sz="3200" dirty="0"/>
              <a:t> Internet Technology</a:t>
            </a:r>
          </a:p>
          <a:p>
            <a:pPr algn="just"/>
            <a:r>
              <a:rPr lang="pt-BR" sz="3200" dirty="0"/>
              <a:t>Volume: 2</a:t>
            </a:r>
          </a:p>
          <a:p>
            <a:pPr algn="just"/>
            <a:r>
              <a:rPr lang="pt-BR" sz="3200" dirty="0"/>
              <a:t>Número: 2</a:t>
            </a:r>
          </a:p>
          <a:p>
            <a:pPr algn="just"/>
            <a:r>
              <a:rPr lang="pt-BR" sz="3200" dirty="0"/>
              <a:t>Páginas: 115–150</a:t>
            </a:r>
          </a:p>
          <a:p>
            <a:pPr algn="just"/>
            <a:r>
              <a:rPr lang="pt-BR" sz="3200" dirty="0"/>
              <a:t>Ano: 2002</a:t>
            </a:r>
          </a:p>
          <a:p>
            <a:pPr algn="just"/>
            <a:r>
              <a:rPr lang="pt-BR" sz="3200" dirty="0"/>
              <a:t>DOI (se quiser incluir para facilitar conferência): 10.1145/514183.514185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Autor: E. F. </a:t>
            </a:r>
            <a:r>
              <a:rPr lang="pt-BR" sz="3200" dirty="0" err="1"/>
              <a:t>Codd</a:t>
            </a:r>
            <a:endParaRPr lang="pt-BR" sz="3200" dirty="0"/>
          </a:p>
          <a:p>
            <a:pPr algn="just"/>
            <a:r>
              <a:rPr lang="pt-BR" sz="3200" dirty="0"/>
              <a:t>Título do artigo: A </a:t>
            </a:r>
            <a:r>
              <a:rPr lang="pt-BR" sz="3200" dirty="0" err="1"/>
              <a:t>relational</a:t>
            </a:r>
            <a:r>
              <a:rPr lang="pt-BR" sz="3200" dirty="0"/>
              <a:t> model </a:t>
            </a:r>
            <a:r>
              <a:rPr lang="pt-BR" sz="3200" dirty="0" err="1"/>
              <a:t>of</a:t>
            </a:r>
            <a:r>
              <a:rPr lang="pt-BR" sz="3200" dirty="0"/>
              <a:t> data for </a:t>
            </a:r>
            <a:r>
              <a:rPr lang="pt-BR" sz="3200" dirty="0" err="1"/>
              <a:t>large</a:t>
            </a:r>
            <a:r>
              <a:rPr lang="pt-BR" sz="3200" dirty="0"/>
              <a:t> </a:t>
            </a:r>
            <a:r>
              <a:rPr lang="pt-BR" sz="3200" dirty="0" err="1"/>
              <a:t>shared</a:t>
            </a:r>
            <a:r>
              <a:rPr lang="pt-BR" sz="3200" dirty="0"/>
              <a:t> data banks</a:t>
            </a:r>
          </a:p>
          <a:p>
            <a:pPr algn="just"/>
            <a:r>
              <a:rPr lang="pt-BR" sz="3200" dirty="0"/>
              <a:t>Periódico: Communications </a:t>
            </a:r>
            <a:r>
              <a:rPr lang="pt-BR" sz="3200" dirty="0" err="1"/>
              <a:t>of</a:t>
            </a:r>
            <a:r>
              <a:rPr lang="pt-BR" sz="3200" dirty="0"/>
              <a:t> </a:t>
            </a:r>
            <a:r>
              <a:rPr lang="pt-BR" sz="3200" dirty="0" err="1"/>
              <a:t>the</a:t>
            </a:r>
            <a:r>
              <a:rPr lang="pt-BR" sz="3200" dirty="0"/>
              <a:t> ACM</a:t>
            </a:r>
          </a:p>
          <a:p>
            <a:pPr algn="just"/>
            <a:r>
              <a:rPr lang="pt-BR" sz="3200" dirty="0"/>
              <a:t>Volume: 13</a:t>
            </a:r>
          </a:p>
          <a:p>
            <a:pPr algn="just"/>
            <a:r>
              <a:rPr lang="pt-BR" sz="3200" dirty="0"/>
              <a:t>Número: 6</a:t>
            </a:r>
          </a:p>
          <a:p>
            <a:pPr algn="just"/>
            <a:r>
              <a:rPr lang="pt-BR" sz="3200" dirty="0"/>
              <a:t>Páginas: 377–387</a:t>
            </a:r>
          </a:p>
          <a:p>
            <a:pPr algn="just"/>
            <a:r>
              <a:rPr lang="pt-BR" sz="3200" dirty="0"/>
              <a:t>Ano: 1970</a:t>
            </a:r>
          </a:p>
          <a:p>
            <a:pPr algn="just"/>
            <a:r>
              <a:rPr lang="pt-BR" sz="3200" dirty="0"/>
              <a:t>DOI: 10.1145/362384.362685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6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9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/>
          </a:bodyPr>
          <a:lstStyle/>
          <a:p>
            <a:pPr algn="just"/>
            <a:r>
              <a:rPr lang="pt-BR" sz="2000" dirty="0"/>
              <a:t>Autores: Sergey Brin; Lawrence Page</a:t>
            </a:r>
          </a:p>
          <a:p>
            <a:pPr algn="just"/>
            <a:r>
              <a:rPr lang="pt-BR" sz="2000" dirty="0"/>
              <a:t>Título do artigo: The </a:t>
            </a:r>
            <a:r>
              <a:rPr lang="pt-BR" sz="2000" dirty="0" err="1"/>
              <a:t>anatomy</a:t>
            </a:r>
            <a:r>
              <a:rPr lang="pt-BR" sz="2000" dirty="0"/>
              <a:t> </a:t>
            </a:r>
            <a:r>
              <a:rPr lang="pt-BR" sz="2000" dirty="0" err="1"/>
              <a:t>of</a:t>
            </a:r>
            <a:r>
              <a:rPr lang="pt-BR" sz="2000" dirty="0"/>
              <a:t> a </a:t>
            </a:r>
            <a:r>
              <a:rPr lang="pt-BR" sz="2000" dirty="0" err="1"/>
              <a:t>large-scale</a:t>
            </a:r>
            <a:r>
              <a:rPr lang="pt-BR" sz="2000" dirty="0"/>
              <a:t> </a:t>
            </a:r>
            <a:r>
              <a:rPr lang="pt-BR" sz="2000" dirty="0" err="1"/>
              <a:t>hypertextual</a:t>
            </a:r>
            <a:r>
              <a:rPr lang="pt-BR" sz="2000" dirty="0"/>
              <a:t> Web </a:t>
            </a:r>
            <a:r>
              <a:rPr lang="pt-BR" sz="2000" dirty="0" err="1"/>
              <a:t>search</a:t>
            </a:r>
            <a:r>
              <a:rPr lang="pt-BR" sz="2000" dirty="0"/>
              <a:t> </a:t>
            </a:r>
            <a:r>
              <a:rPr lang="pt-BR" sz="2000" dirty="0" err="1"/>
              <a:t>engine</a:t>
            </a:r>
            <a:endParaRPr lang="pt-BR" sz="2000" dirty="0"/>
          </a:p>
          <a:p>
            <a:pPr algn="just"/>
            <a:r>
              <a:rPr lang="pt-BR" sz="2000" dirty="0"/>
              <a:t>Periódico: Computer Networks </a:t>
            </a:r>
            <a:r>
              <a:rPr lang="pt-BR" sz="2000" dirty="0" err="1"/>
              <a:t>and</a:t>
            </a:r>
            <a:r>
              <a:rPr lang="pt-BR" sz="2000" dirty="0"/>
              <a:t> ISDN Systems</a:t>
            </a:r>
          </a:p>
          <a:p>
            <a:pPr algn="just"/>
            <a:r>
              <a:rPr lang="pt-BR" sz="2000" dirty="0"/>
              <a:t>Volume: 30</a:t>
            </a:r>
          </a:p>
          <a:p>
            <a:pPr algn="just"/>
            <a:r>
              <a:rPr lang="pt-BR" sz="2000" dirty="0"/>
              <a:t>Números: 1–7</a:t>
            </a:r>
          </a:p>
          <a:p>
            <a:pPr algn="just"/>
            <a:r>
              <a:rPr lang="pt-BR" sz="2000" dirty="0"/>
              <a:t>Páginas: 107–117</a:t>
            </a:r>
          </a:p>
          <a:p>
            <a:pPr algn="just"/>
            <a:r>
              <a:rPr lang="pt-BR" sz="2000" dirty="0"/>
              <a:t>Ano: 1998</a:t>
            </a:r>
          </a:p>
          <a:p>
            <a:pPr algn="just"/>
            <a:r>
              <a:rPr lang="pt-BR" sz="2000" dirty="0"/>
              <a:t>DOI: 10.1016/S0169-7552(98)00110-X</a:t>
            </a:r>
          </a:p>
          <a:p>
            <a:pPr algn="just"/>
            <a:endParaRPr lang="pt-BR" sz="32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7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969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5900" b="1" dirty="0"/>
              <a:t>C) Trabalhos acadêmicos (artigos em eventos)</a:t>
            </a:r>
            <a:endParaRPr lang="pt-BR" sz="2900" dirty="0"/>
          </a:p>
          <a:p>
            <a:pPr algn="just"/>
            <a:r>
              <a:rPr lang="pt-BR" sz="3200" dirty="0"/>
              <a:t>Autores: Jeffrey Dean; </a:t>
            </a:r>
            <a:r>
              <a:rPr lang="pt-BR" sz="3200" dirty="0" err="1"/>
              <a:t>Sanjay</a:t>
            </a:r>
            <a:r>
              <a:rPr lang="pt-BR" sz="3200" dirty="0"/>
              <a:t> </a:t>
            </a:r>
            <a:r>
              <a:rPr lang="pt-BR" sz="3200" dirty="0" err="1"/>
              <a:t>Ghemawat</a:t>
            </a:r>
            <a:endParaRPr lang="pt-BR" sz="3200" dirty="0"/>
          </a:p>
          <a:p>
            <a:pPr algn="just"/>
            <a:r>
              <a:rPr lang="pt-BR" sz="3200" dirty="0"/>
              <a:t>Título: </a:t>
            </a:r>
            <a:r>
              <a:rPr lang="pt-BR" sz="3200" dirty="0" err="1"/>
              <a:t>MapReduce</a:t>
            </a:r>
            <a:r>
              <a:rPr lang="pt-BR" sz="3200" dirty="0"/>
              <a:t>: </a:t>
            </a:r>
            <a:r>
              <a:rPr lang="pt-BR" sz="3200" dirty="0" err="1"/>
              <a:t>Simplified</a:t>
            </a:r>
            <a:r>
              <a:rPr lang="pt-BR" sz="3200" dirty="0"/>
              <a:t> Data </a:t>
            </a:r>
            <a:r>
              <a:rPr lang="pt-BR" sz="3200" dirty="0" err="1"/>
              <a:t>Processing</a:t>
            </a:r>
            <a:r>
              <a:rPr lang="pt-BR" sz="3200" dirty="0"/>
              <a:t> </a:t>
            </a:r>
            <a:r>
              <a:rPr lang="pt-BR" sz="3200" dirty="0" err="1"/>
              <a:t>on</a:t>
            </a:r>
            <a:r>
              <a:rPr lang="pt-BR" sz="3200" dirty="0"/>
              <a:t> Large Clusters</a:t>
            </a:r>
          </a:p>
          <a:p>
            <a:pPr algn="just"/>
            <a:r>
              <a:rPr lang="pt-BR" sz="3200" dirty="0"/>
              <a:t>Evento: OSDI – USENIX </a:t>
            </a:r>
            <a:r>
              <a:rPr lang="pt-BR" sz="3200" dirty="0" err="1"/>
              <a:t>Symposium</a:t>
            </a:r>
            <a:r>
              <a:rPr lang="pt-BR" sz="3200" dirty="0"/>
              <a:t> </a:t>
            </a:r>
            <a:r>
              <a:rPr lang="pt-BR" sz="3200" dirty="0" err="1"/>
              <a:t>on</a:t>
            </a:r>
            <a:r>
              <a:rPr lang="pt-BR" sz="3200" dirty="0"/>
              <a:t> </a:t>
            </a:r>
            <a:r>
              <a:rPr lang="pt-BR" sz="3200" dirty="0" err="1"/>
              <a:t>Operating</a:t>
            </a:r>
            <a:r>
              <a:rPr lang="pt-BR" sz="3200" dirty="0"/>
              <a:t> Systems Design </a:t>
            </a:r>
            <a:r>
              <a:rPr lang="pt-BR" sz="3200" dirty="0" err="1"/>
              <a:t>and</a:t>
            </a:r>
            <a:r>
              <a:rPr lang="pt-BR" sz="3200" dirty="0"/>
              <a:t> </a:t>
            </a:r>
            <a:r>
              <a:rPr lang="pt-BR" sz="3200" dirty="0" err="1"/>
              <a:t>Implementation</a:t>
            </a:r>
            <a:endParaRPr lang="pt-BR" sz="3200" dirty="0"/>
          </a:p>
          <a:p>
            <a:pPr algn="just"/>
            <a:r>
              <a:rPr lang="pt-BR" sz="3200" dirty="0"/>
              <a:t>Edição do evento: 6ª (OSDI ’04)</a:t>
            </a:r>
          </a:p>
          <a:p>
            <a:pPr algn="just"/>
            <a:r>
              <a:rPr lang="pt-BR" sz="3200" dirty="0"/>
              <a:t>Ano de realização: 2004</a:t>
            </a:r>
          </a:p>
          <a:p>
            <a:pPr algn="just"/>
            <a:r>
              <a:rPr lang="pt-BR" sz="3200" dirty="0"/>
              <a:t>Cidade do evento: San Francisco, CA, USA</a:t>
            </a:r>
          </a:p>
          <a:p>
            <a:pPr algn="just"/>
            <a:r>
              <a:rPr lang="pt-BR" sz="3200" dirty="0"/>
              <a:t>Tipo do documento: </a:t>
            </a:r>
            <a:r>
              <a:rPr lang="pt-BR" sz="3200" dirty="0" err="1"/>
              <a:t>Proceedings</a:t>
            </a:r>
            <a:endParaRPr lang="pt-BR" sz="3200" dirty="0"/>
          </a:p>
          <a:p>
            <a:pPr algn="just"/>
            <a:r>
              <a:rPr lang="pt-BR" sz="3200" dirty="0"/>
              <a:t>Editora/Instituição: USENIX </a:t>
            </a:r>
            <a:r>
              <a:rPr lang="pt-BR" sz="3200" dirty="0" err="1"/>
              <a:t>Association</a:t>
            </a:r>
            <a:endParaRPr lang="pt-BR" sz="3200" dirty="0"/>
          </a:p>
          <a:p>
            <a:pPr algn="just"/>
            <a:r>
              <a:rPr lang="pt-BR" sz="3200" dirty="0"/>
              <a:t>Páginas: 137–150</a:t>
            </a:r>
          </a:p>
          <a:p>
            <a:pPr algn="just"/>
            <a:r>
              <a:rPr lang="pt-BR" sz="3200" dirty="0"/>
              <a:t>Link: https://www.usenix.org/conference/osdi04/mapreduce-simplified-data-processing-large-clusters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Autor: Roy T. Fielding</a:t>
            </a:r>
          </a:p>
          <a:p>
            <a:pPr algn="just"/>
            <a:r>
              <a:rPr lang="pt-BR" sz="3200" dirty="0"/>
              <a:t>Título: </a:t>
            </a:r>
            <a:r>
              <a:rPr lang="pt-BR" sz="3200" dirty="0" err="1"/>
              <a:t>Architectural</a:t>
            </a:r>
            <a:r>
              <a:rPr lang="pt-BR" sz="3200" dirty="0"/>
              <a:t> </a:t>
            </a:r>
            <a:r>
              <a:rPr lang="pt-BR" sz="3200" dirty="0" err="1"/>
              <a:t>Styles</a:t>
            </a:r>
            <a:r>
              <a:rPr lang="pt-BR" sz="3200" dirty="0"/>
              <a:t> </a:t>
            </a:r>
            <a:r>
              <a:rPr lang="pt-BR" sz="3200" dirty="0" err="1"/>
              <a:t>and</a:t>
            </a:r>
            <a:r>
              <a:rPr lang="pt-BR" sz="3200" dirty="0"/>
              <a:t> </a:t>
            </a:r>
            <a:r>
              <a:rPr lang="pt-BR" sz="3200" dirty="0" err="1"/>
              <a:t>the</a:t>
            </a:r>
            <a:r>
              <a:rPr lang="pt-BR" sz="3200" dirty="0"/>
              <a:t> Design </a:t>
            </a:r>
            <a:r>
              <a:rPr lang="pt-BR" sz="3200" dirty="0" err="1"/>
              <a:t>of</a:t>
            </a:r>
            <a:r>
              <a:rPr lang="pt-BR" sz="3200" dirty="0"/>
              <a:t> Network-</a:t>
            </a:r>
            <a:r>
              <a:rPr lang="pt-BR" sz="3200" dirty="0" err="1"/>
              <a:t>based</a:t>
            </a:r>
            <a:r>
              <a:rPr lang="pt-BR" sz="3200" dirty="0"/>
              <a:t> Software </a:t>
            </a:r>
            <a:r>
              <a:rPr lang="pt-BR" sz="3200" dirty="0" err="1"/>
              <a:t>Architectures</a:t>
            </a:r>
            <a:endParaRPr lang="pt-BR" sz="3200" dirty="0"/>
          </a:p>
          <a:p>
            <a:pPr algn="just"/>
            <a:r>
              <a:rPr lang="pt-BR" sz="3200" dirty="0"/>
              <a:t>Tipo: </a:t>
            </a:r>
            <a:r>
              <a:rPr lang="pt-BR" sz="3200" dirty="0" err="1"/>
              <a:t>Doctoral</a:t>
            </a:r>
            <a:r>
              <a:rPr lang="pt-BR" sz="3200" dirty="0"/>
              <a:t> </a:t>
            </a:r>
            <a:r>
              <a:rPr lang="pt-BR" sz="3200" dirty="0" err="1"/>
              <a:t>dissertation</a:t>
            </a:r>
            <a:r>
              <a:rPr lang="pt-BR" sz="3200" dirty="0"/>
              <a:t> (frequentemente citada como trabalho acadêmico; você pode tratar como “tese/dissertação” no exercício, se preferir)</a:t>
            </a:r>
          </a:p>
          <a:p>
            <a:pPr algn="just"/>
            <a:r>
              <a:rPr lang="pt-BR" sz="3200" dirty="0"/>
              <a:t>Instituição: </a:t>
            </a:r>
            <a:r>
              <a:rPr lang="pt-BR" sz="3200" dirty="0" err="1"/>
              <a:t>University</a:t>
            </a:r>
            <a:r>
              <a:rPr lang="pt-BR" sz="3200" dirty="0"/>
              <a:t> </a:t>
            </a:r>
            <a:r>
              <a:rPr lang="pt-BR" sz="3200" dirty="0" err="1"/>
              <a:t>of</a:t>
            </a:r>
            <a:r>
              <a:rPr lang="pt-BR" sz="3200" dirty="0"/>
              <a:t> California, Irvine</a:t>
            </a:r>
          </a:p>
          <a:p>
            <a:pPr algn="just"/>
            <a:r>
              <a:rPr lang="pt-BR" sz="3200" dirty="0"/>
              <a:t>Ano: 2000</a:t>
            </a:r>
          </a:p>
          <a:p>
            <a:pPr algn="just"/>
            <a:r>
              <a:rPr lang="pt-BR" sz="3200" dirty="0"/>
              <a:t>Link: https://www.ics.uci.edu/~fielding/pubs/dissertation/top.htm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8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20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3400" b="1" dirty="0"/>
              <a:t>D) Publicações em sites (documentação técnica)</a:t>
            </a:r>
          </a:p>
          <a:p>
            <a:pPr algn="just"/>
            <a:r>
              <a:rPr lang="pt-BR" sz="3400" b="1" dirty="0"/>
              <a:t>(Acrescentar “Disponível em:” e “Acesso em:” com a data em que eles consultarem.)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Organização/Autor: Mozilla</a:t>
            </a:r>
          </a:p>
          <a:p>
            <a:pPr algn="just"/>
            <a:r>
              <a:rPr lang="pt-BR" sz="3200" dirty="0"/>
              <a:t>Página: MDN Web </a:t>
            </a:r>
            <a:r>
              <a:rPr lang="pt-BR" sz="3200" dirty="0" err="1"/>
              <a:t>Docs</a:t>
            </a:r>
            <a:r>
              <a:rPr lang="pt-BR" sz="3200" dirty="0"/>
              <a:t> – HTML</a:t>
            </a:r>
          </a:p>
          <a:p>
            <a:pPr algn="just"/>
            <a:r>
              <a:rPr lang="pt-BR" sz="3200" dirty="0"/>
              <a:t>URL: https://developer.mozilla.org/pt-BR/docs/Web/HTML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Organização/Autor: Mozilla</a:t>
            </a:r>
          </a:p>
          <a:p>
            <a:pPr algn="just"/>
            <a:r>
              <a:rPr lang="pt-BR" sz="3200" dirty="0"/>
              <a:t>Página: MDN Web </a:t>
            </a:r>
            <a:r>
              <a:rPr lang="pt-BR" sz="3200" dirty="0" err="1"/>
              <a:t>Docs</a:t>
            </a:r>
            <a:r>
              <a:rPr lang="pt-BR" sz="3200" dirty="0"/>
              <a:t> – CSS</a:t>
            </a:r>
          </a:p>
          <a:p>
            <a:pPr algn="just"/>
            <a:r>
              <a:rPr lang="pt-BR" sz="3200" dirty="0"/>
              <a:t>URL: https://developer.mozilla.org/pt-BR/docs/Web/CSS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Organização/Autor: Mozilla</a:t>
            </a:r>
          </a:p>
          <a:p>
            <a:pPr algn="just"/>
            <a:r>
              <a:rPr lang="pt-BR" sz="3200" dirty="0"/>
              <a:t>Página: MDN Web </a:t>
            </a:r>
            <a:r>
              <a:rPr lang="pt-BR" sz="3200" dirty="0" err="1"/>
              <a:t>Docs</a:t>
            </a:r>
            <a:r>
              <a:rPr lang="pt-BR" sz="3200" dirty="0"/>
              <a:t> – </a:t>
            </a:r>
            <a:r>
              <a:rPr lang="pt-BR" sz="3200" dirty="0" err="1"/>
              <a:t>JavaScript</a:t>
            </a:r>
            <a:endParaRPr lang="pt-BR" sz="3200" dirty="0"/>
          </a:p>
          <a:p>
            <a:pPr algn="just"/>
            <a:r>
              <a:rPr lang="pt-BR" sz="3200" dirty="0"/>
              <a:t>URL: https://developer.mozilla.org/pt-BR/docs/Web/JavaScript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Organização/Autor: WHATWG</a:t>
            </a:r>
          </a:p>
          <a:p>
            <a:pPr algn="just"/>
            <a:r>
              <a:rPr lang="pt-BR" sz="3200" dirty="0"/>
              <a:t>Página: HTML Standard (Living Standard)</a:t>
            </a:r>
          </a:p>
          <a:p>
            <a:pPr algn="just"/>
            <a:r>
              <a:rPr lang="pt-BR" sz="3200" dirty="0"/>
              <a:t>URL: https://html.spec.whatwg.org/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9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441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3200" dirty="0"/>
              <a:t>Organização/Autor: PostgreSQL Global </a:t>
            </a:r>
            <a:r>
              <a:rPr lang="pt-BR" sz="3200" dirty="0" err="1"/>
              <a:t>Development</a:t>
            </a:r>
            <a:r>
              <a:rPr lang="pt-BR" sz="3200" dirty="0"/>
              <a:t> </a:t>
            </a:r>
            <a:r>
              <a:rPr lang="pt-BR" sz="3200" dirty="0" err="1"/>
              <a:t>Group</a:t>
            </a:r>
            <a:endParaRPr lang="pt-BR" sz="3200" dirty="0"/>
          </a:p>
          <a:p>
            <a:pPr algn="just"/>
            <a:r>
              <a:rPr lang="pt-BR" sz="3200" dirty="0"/>
              <a:t>Página: PostgreSQL </a:t>
            </a:r>
            <a:r>
              <a:rPr lang="pt-BR" sz="3200" dirty="0" err="1"/>
              <a:t>Documentation</a:t>
            </a:r>
            <a:endParaRPr lang="pt-BR" sz="3200" dirty="0"/>
          </a:p>
          <a:p>
            <a:pPr algn="just"/>
            <a:r>
              <a:rPr lang="pt-BR" sz="3200" dirty="0"/>
              <a:t>URL: https://www.postgresql.org/docs/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Organização/Autor: Oracle</a:t>
            </a:r>
          </a:p>
          <a:p>
            <a:pPr algn="just"/>
            <a:r>
              <a:rPr lang="pt-BR" sz="3200" dirty="0"/>
              <a:t>Página: MySQL 8.0 </a:t>
            </a:r>
            <a:r>
              <a:rPr lang="pt-BR" sz="3200" dirty="0" err="1"/>
              <a:t>Reference</a:t>
            </a:r>
            <a:r>
              <a:rPr lang="pt-BR" sz="3200" dirty="0"/>
              <a:t> Manual</a:t>
            </a:r>
          </a:p>
          <a:p>
            <a:pPr algn="just"/>
            <a:r>
              <a:rPr lang="pt-BR" sz="3200" dirty="0"/>
              <a:t>URL: https://dev.mysql.com/doc/refman/8.0/en/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Organização/Autor: </a:t>
            </a:r>
            <a:r>
              <a:rPr lang="pt-BR" sz="3200" dirty="0" err="1"/>
              <a:t>OpenJS</a:t>
            </a:r>
            <a:r>
              <a:rPr lang="pt-BR" sz="3200" dirty="0"/>
              <a:t> Foundation</a:t>
            </a:r>
          </a:p>
          <a:p>
            <a:pPr algn="just"/>
            <a:r>
              <a:rPr lang="pt-BR" sz="3200" dirty="0"/>
              <a:t>Página: Node.js </a:t>
            </a:r>
            <a:r>
              <a:rPr lang="pt-BR" sz="3200" dirty="0" err="1"/>
              <a:t>Documentation</a:t>
            </a:r>
            <a:endParaRPr lang="pt-BR" sz="3200" dirty="0"/>
          </a:p>
          <a:p>
            <a:pPr algn="just"/>
            <a:r>
              <a:rPr lang="pt-BR" sz="3200" dirty="0"/>
              <a:t>URL: https://nodejs.org/en/docs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Organização/Autor: </a:t>
            </a:r>
            <a:r>
              <a:rPr lang="pt-BR" sz="3200" dirty="0" err="1"/>
              <a:t>Git</a:t>
            </a:r>
            <a:r>
              <a:rPr lang="pt-BR" sz="3200" dirty="0"/>
              <a:t> SCM</a:t>
            </a:r>
          </a:p>
          <a:p>
            <a:pPr algn="just"/>
            <a:r>
              <a:rPr lang="pt-BR" sz="3200" dirty="0"/>
              <a:t>Página: </a:t>
            </a:r>
            <a:r>
              <a:rPr lang="pt-BR" sz="3200" dirty="0" err="1"/>
              <a:t>Git</a:t>
            </a:r>
            <a:r>
              <a:rPr lang="pt-BR" sz="3200" dirty="0"/>
              <a:t> </a:t>
            </a:r>
            <a:r>
              <a:rPr lang="pt-BR" sz="3200" dirty="0" err="1"/>
              <a:t>Documentation</a:t>
            </a:r>
            <a:endParaRPr lang="pt-BR" sz="3200" dirty="0"/>
          </a:p>
          <a:p>
            <a:pPr algn="just"/>
            <a:r>
              <a:rPr lang="pt-BR" sz="3200" dirty="0"/>
              <a:t>URL: https://git-scm.com/docs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10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994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3800" b="1" dirty="0"/>
              <a:t>E) Legislação (Brasil)</a:t>
            </a:r>
          </a:p>
          <a:p>
            <a:pPr algn="just"/>
            <a:r>
              <a:rPr lang="pt-BR" sz="3200" dirty="0"/>
              <a:t>Tipo: Lei</a:t>
            </a:r>
          </a:p>
          <a:p>
            <a:pPr algn="just"/>
            <a:r>
              <a:rPr lang="pt-BR" sz="3200" dirty="0"/>
              <a:t>País/Ente: Brasil</a:t>
            </a:r>
          </a:p>
          <a:p>
            <a:pPr algn="just"/>
            <a:r>
              <a:rPr lang="pt-BR" sz="3200" dirty="0"/>
              <a:t>Número: 13.709</a:t>
            </a:r>
          </a:p>
          <a:p>
            <a:pPr algn="just"/>
            <a:r>
              <a:rPr lang="pt-BR" sz="3200" dirty="0"/>
              <a:t>Data: 14 de agosto de 2018</a:t>
            </a:r>
          </a:p>
          <a:p>
            <a:pPr algn="just"/>
            <a:r>
              <a:rPr lang="pt-BR" sz="3200" dirty="0"/>
              <a:t>Nome/Assunto: Lei Geral de Proteção de Dados Pessoais (LGPD)</a:t>
            </a:r>
          </a:p>
          <a:p>
            <a:pPr algn="just"/>
            <a:r>
              <a:rPr lang="pt-BR" sz="3200" dirty="0"/>
              <a:t>Publicação: Diário Oficial da União (DOU)</a:t>
            </a:r>
          </a:p>
          <a:p>
            <a:pPr algn="just"/>
            <a:r>
              <a:rPr lang="pt-BR" sz="3200" dirty="0"/>
              <a:t>Link (Planalto): http://www.planalto.gov.br/ccivil_03/_ato2015-2018/2018/lei/L13709.htm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Tipo: Lei</a:t>
            </a:r>
          </a:p>
          <a:p>
            <a:pPr algn="just"/>
            <a:r>
              <a:rPr lang="pt-BR" sz="3200" dirty="0"/>
              <a:t>País/Ente: Brasil</a:t>
            </a:r>
          </a:p>
          <a:p>
            <a:pPr algn="just"/>
            <a:r>
              <a:rPr lang="pt-BR" sz="3200" dirty="0"/>
              <a:t>Número: 12.965</a:t>
            </a:r>
          </a:p>
          <a:p>
            <a:pPr algn="just"/>
            <a:r>
              <a:rPr lang="pt-BR" sz="3200" dirty="0"/>
              <a:t>Data: 23 de abril de 2014</a:t>
            </a:r>
          </a:p>
          <a:p>
            <a:pPr algn="just"/>
            <a:r>
              <a:rPr lang="pt-BR" sz="3200" dirty="0"/>
              <a:t>Nome/Assunto: Marco Civil da Internet</a:t>
            </a:r>
          </a:p>
          <a:p>
            <a:pPr algn="just"/>
            <a:r>
              <a:rPr lang="pt-BR" sz="3200" dirty="0"/>
              <a:t>Publicação: Diário Oficial da União (DOU)</a:t>
            </a:r>
          </a:p>
          <a:p>
            <a:pPr algn="just"/>
            <a:r>
              <a:rPr lang="pt-BR" sz="3200" dirty="0"/>
              <a:t>Link (Planalto): http://www.planalto.gov.br/ccivil_03/_ato2011-2014/2014/lei/l12965.htm</a:t>
            </a:r>
          </a:p>
          <a:p>
            <a:pPr algn="just"/>
            <a:endParaRPr lang="pt-BR" sz="32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11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647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3200" dirty="0"/>
              <a:t>Tipo: Lei</a:t>
            </a:r>
          </a:p>
          <a:p>
            <a:pPr algn="just"/>
            <a:r>
              <a:rPr lang="pt-BR" sz="3200" dirty="0"/>
              <a:t>País/Ente: Brasil</a:t>
            </a:r>
          </a:p>
          <a:p>
            <a:pPr algn="just"/>
            <a:r>
              <a:rPr lang="pt-BR" sz="3200" dirty="0"/>
              <a:t>Número: 13.146</a:t>
            </a:r>
          </a:p>
          <a:p>
            <a:pPr algn="just"/>
            <a:r>
              <a:rPr lang="pt-BR" sz="3200" dirty="0"/>
              <a:t>Data: 6 de julho de 2015</a:t>
            </a:r>
          </a:p>
          <a:p>
            <a:pPr algn="just"/>
            <a:r>
              <a:rPr lang="pt-BR" sz="3200" dirty="0"/>
              <a:t>Nome/Assunto: Lei Brasileira de Inclusão da Pessoa com Deficiência (Estatuto da Pessoa com Deficiência)</a:t>
            </a:r>
          </a:p>
          <a:p>
            <a:pPr algn="just"/>
            <a:r>
              <a:rPr lang="pt-BR" sz="3200" dirty="0"/>
              <a:t>Publicação: Diário Oficial da União (DOU)</a:t>
            </a:r>
          </a:p>
          <a:p>
            <a:pPr algn="just"/>
            <a:r>
              <a:rPr lang="pt-BR" sz="3200" dirty="0"/>
              <a:t>Link (Planalto): http://www.planalto.gov.br/ccivil_03/_ato2015-2018/2015/lei/l13146.htm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/>
              <a:t>Tipo: Decreto</a:t>
            </a:r>
          </a:p>
          <a:p>
            <a:pPr algn="just"/>
            <a:r>
              <a:rPr lang="pt-BR" sz="3200" dirty="0"/>
              <a:t>País/Ente: Brasil</a:t>
            </a:r>
          </a:p>
          <a:p>
            <a:pPr algn="just"/>
            <a:r>
              <a:rPr lang="pt-BR" sz="3200" dirty="0"/>
              <a:t>Número: 5.296</a:t>
            </a:r>
          </a:p>
          <a:p>
            <a:pPr algn="just"/>
            <a:r>
              <a:rPr lang="pt-BR" sz="3200" dirty="0"/>
              <a:t>Data: 2 de dezembro de 2004</a:t>
            </a:r>
          </a:p>
          <a:p>
            <a:pPr algn="just"/>
            <a:r>
              <a:rPr lang="pt-BR" sz="3200" dirty="0"/>
              <a:t>Assunto: Regulamenta as Leis nº 10.048/2000 e nº 10.098/2000 (acessibilidade)</a:t>
            </a:r>
          </a:p>
          <a:p>
            <a:pPr algn="just"/>
            <a:r>
              <a:rPr lang="pt-BR" sz="3200" dirty="0"/>
              <a:t>Publicação: Diário Oficial da União (DOU)</a:t>
            </a:r>
          </a:p>
          <a:p>
            <a:pPr algn="just"/>
            <a:r>
              <a:rPr lang="pt-BR" sz="3200" dirty="0"/>
              <a:t>Link (Planalto): http://www.planalto.gov.br/ccivil_03/_ato2004-2006/2004/decreto/d5296.htm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12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799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01D75-8A34-4B95-ACF8-C809563CD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856" y="170121"/>
            <a:ext cx="11961628" cy="712381"/>
          </a:xfrm>
        </p:spPr>
        <p:txBody>
          <a:bodyPr>
            <a:normAutofit fontScale="90000"/>
          </a:bodyPr>
          <a:lstStyle/>
          <a:p>
            <a:r>
              <a:rPr lang="pt-BR" dirty="0" err="1"/>
              <a:t>Etec</a:t>
            </a:r>
            <a:r>
              <a:rPr lang="pt-BR" dirty="0"/>
              <a:t> Pedro Ferreira Alves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CE54AF-74DF-4688-9309-E263B424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185" y="882502"/>
            <a:ext cx="11825177" cy="5699051"/>
          </a:xfrm>
        </p:spPr>
        <p:txBody>
          <a:bodyPr>
            <a:normAutofit/>
          </a:bodyPr>
          <a:lstStyle/>
          <a:p>
            <a:pPr algn="just"/>
            <a:r>
              <a:rPr lang="pt-BR" sz="3200" dirty="0"/>
              <a:t>Vocês devem, utilizando exatamente os exemplos citados acima, montar a referência bibliográfica de cada item.</a:t>
            </a:r>
          </a:p>
          <a:p>
            <a:pPr algn="just"/>
            <a:r>
              <a:rPr lang="pt-BR" sz="3200" dirty="0"/>
              <a:t>O trabalho deve ser feito por equipe, subir no </a:t>
            </a:r>
            <a:r>
              <a:rPr lang="pt-BR" sz="3200" dirty="0" err="1"/>
              <a:t>github</a:t>
            </a:r>
            <a:r>
              <a:rPr lang="pt-BR" sz="3200" dirty="0"/>
              <a:t> com o nome de cada aluno componente da equipe.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81C9801-D7C1-4586-9B09-A5A17D5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756684" cy="365125"/>
          </a:xfrm>
        </p:spPr>
        <p:txBody>
          <a:bodyPr/>
          <a:lstStyle/>
          <a:p>
            <a:fld id="{1C0A7EC0-AA17-4891-92AD-9A0182533836}" type="slidenum">
              <a:rPr lang="pt-BR" smtClean="0"/>
              <a:t>13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00EA063-150F-321C-F00D-331D6590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56" y="0"/>
            <a:ext cx="1066634" cy="65619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932E86-C33C-096B-F8F8-641DD1294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114" y="98211"/>
            <a:ext cx="974316" cy="67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35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1212</Words>
  <Application>Microsoft Office PowerPoint</Application>
  <PresentationFormat>Widescreen</PresentationFormat>
  <Paragraphs>205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do Office</vt:lpstr>
      <vt:lpstr>Etec Pedro Ferreira Alves </vt:lpstr>
      <vt:lpstr>Etec Pedro Ferreira Alves </vt:lpstr>
      <vt:lpstr>Etec Pedro Ferreira Alves </vt:lpstr>
      <vt:lpstr>Etec Pedro Ferreira Alves </vt:lpstr>
      <vt:lpstr>Etec Pedro Ferreira Alves </vt:lpstr>
      <vt:lpstr>Etec Pedro Ferreira Alves </vt:lpstr>
      <vt:lpstr>Etec Pedro Ferreira Alves </vt:lpstr>
      <vt:lpstr>Etec Pedro Ferreira Alves </vt:lpstr>
      <vt:lpstr>Etec Pedro Ferreira Alves </vt:lpstr>
      <vt:lpstr>Etec Pedro Ferreira Alves </vt:lpstr>
      <vt:lpstr>Etec Pedro Ferreira Alves </vt:lpstr>
      <vt:lpstr>Etec Pedro Ferreira Alves </vt:lpstr>
      <vt:lpstr>Etec Pedro Ferreira Alves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Etec Pedro Ferreira Alves</dc:title>
  <dc:creator>MAURICIO</dc:creator>
  <cp:lastModifiedBy>User</cp:lastModifiedBy>
  <cp:revision>18</cp:revision>
  <dcterms:created xsi:type="dcterms:W3CDTF">2020-02-04T14:52:36Z</dcterms:created>
  <dcterms:modified xsi:type="dcterms:W3CDTF">2026-02-22T22:04:01Z</dcterms:modified>
</cp:coreProperties>
</file>